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ubhav" id="{e5548d8a-04bd-aca3-6f8f-bf91dd09204c}">
          <p14:sldIdLst>
            <p14:sldId id="256"/>
            <p14:sldId id="257"/>
            <p14:sldId id="258"/>
            <p14:sldId id="259"/>
          </p14:sldIdLst>
        </p14:section>
        <p14:section name="Arnab" id="{f331558f-8242-7cd4-f602-9074bd8a1d4e}">
          <p14:sldIdLst>
            <p14:sldId id="260"/>
            <p14:sldId id="261"/>
            <p14:sldId id="262"/>
            <p14:sldId id="263"/>
          </p14:sldIdLst>
        </p14:section>
        <p14:section name="Anish A." id="{a31d33fb-ef3e-03dd-0eb8-5a46c6391622}">
          <p14:sldIdLst>
            <p14:sldId id="264"/>
            <p14:sldId id="265"/>
            <p14:sldId id="266"/>
          </p14:sldIdLst>
        </p14:section>
        <p14:section name="Anish D." id="{2e50a878-1e08-5af2-01d4-1c39ac45d6ef}">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(about 25 s)
Good morning, ma'am. We are Anubhav, Arnab, Anish Alladi and Anish De. Our project ranks IPL franchises using only linear algebra: matrices, rank, projection and eigenvectors. We will walk through eleven steps, from raw match data to a final ranking, in about ten minutes. I will start with the data and the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(about 40 s)
The dataset has 1,243 matches over 19 seasons. 25 have no winner, so we drop them, which leaves 1,218. Only 558 of those record a run margin. The other 660 were won by wickets and carry no run figure. We did not convert wickets into runs, because that would be invented data. So we build two models: Massey on the 558 run-margin matches, and Colley on all 1,218.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(about 40 s)
Each run-margin match becomes one equation. A has 558 rows and 15 columns, one per franchise: plus one for the winner, minus one for the loser, zero otherwise. The right-hand side b holds the run margin. We solve A x equals b for the team strengths x. Notice that every row sums to zero. That will matter in the next two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(about 35 s)
We simplify A with Gauss-Jordan elimination, written by hand with partial pivoting. We get 14 pivot rows, and every other row reduces to zero, 544 of them. One column, Sunrisers Hyderabad, never gets a pivot. That is the free column. So A is not full rank. Arnab will take it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ARNAB (about 40 s)
That gives rank 14 and nullity 1, out of 15 columns. The singular values confirm it: the smallest real one is 2.2, and the fifteenth is about 5 times 10 to the minus 15, fourteen orders of magnitude lower, so it is zero. The null direction is the all-ones vector, because rows sum to zero. Adding the same runs to every team changes nothing, so only differences between teams can be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ARNAB (about 30 s)
Next, we remove redundancy. Of the 558 equations, only 14 are linearly independent. The other 544 are combinations of those 14 and add no new information. We keep the 14 pivot rows, taken as they are from A. That is a basis for the row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ARNAB (about 40 s)
Now we orthogonalise, in two different spaces. The column space sits inside R to the 558. QR factorisation gives 14 orthonormal columns that span it, and a fifteenth that lies outside it. The row space sits inside R to the 15. Gram-Schmidt on the 14 pivot rows gives an orthonormal basis there, with Q times Q transpose equal to identity. We also corrected an earlier mistake of treating QR as the row-space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ARNAB (about 40 s)
Now we project b onto the column space. b splits into a fitted part, A x-hat, of length 142 runs, and a residual of length 963 runs. The residual is exactly perpendicular: its dot product with each of the 14 directions is zero to about 10 to the minus 13. That is the normal equations, A transpose r equals zero. And Pythagoras holds: the squared lengths 20,259 and 928,185 add up to the squared length of b. Anish Alladi will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ALLADI (about 40 s)
The projection gives the least-squares solution, and three different routes agree to about 5 times 10 to the minus 14. But the fit is weak. Centred R-squared is minus 0.21, and winner accuracy is 55 percent. The residual spread, 36.9 runs, is almost the whole spread of the data, 37.1, while the fitted team strengths vary by only 7 runs. So in this model, run margins carry little team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ALLADI (about 45 s)
Second model: Colley, on all 1,218 decided matches. We form M equals W plus W transpose plus C, where W counts wins and C counts games played. M is symmetric and non-negative, so Perron-Frobenius guarantees a positive leading eigenvector. Power iteration finds it in 9 steps: lambda 1 is 469.18, which dominates lambda 2 of 14.81 by 31.7 times. Every team's share comes out strictly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ALLADI (about 35 s)
Diagonalisation simplifies the problem. A transpose A is a 15 by 15 symmetric positive semi-definite matrix, replacing the 558 by 15 one. Its eigenvalues are exactly the squared singular values of A. And the single zero eigenvalue is the same rank-14 deficiency we saw in stage 4. What we found by elimination shows up again here. Anish De will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DE (about 45 s)
Now the final output. On the left, Massey: every one of the 15 coefficients lies within two standard errors of zero, the largest t-value is only 1.2. The most extreme ones, Kochi and Gujarat Lions, come from just 5 matches each. On the right, Colley gives all-positive shares, with Mumbai, Bangalore, Kolkata and Delhi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DE (about 35 s)
We compare both rankings with the official points table, joined by team name. Colley agrees strongly, Spearman 0.94. Massey barely agrees, 0.09, and it has no agreement with Colley at all. So win-and-loss information ranks the teams sensibly, while our run-margin least squares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DE (about 40 s)
To conclude: rank, null space, projection and eigenvectors all behaved as the theory predicts. One limitation we found in our own audit: in the design matrix, 123 of the 558 rows have an inconsistent sign. Re-fitting with consistent signs lifts the Massey versus official Spearman from 0.09 to 0.60. So the Massey figures are provisional, while the structural results, rank and null space,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ANISH DE (about 20 s)
That is our work. To recap: the data became a matrix, elimination found rank 14, projection gave least squares, and the eigenvector gave a robust ranking. Thank you, ma'am.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457200" y="4828032"/>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IPL Power Ranking  |  Linear Algebra project</a:t>
            </a:r>
            <a:endParaRPr lang="en-US" sz="1000" dirty="0"/>
          </a:p>
        </p:txBody>
      </p:sp>
      <p:sp>
        <p:nvSpPr>
          <p:cNvPr id="3" name="Text 1"/>
          <p:cNvSpPr/>
          <p:nvPr>
            <p:ph idx="101" type="body" hasCustomPrompt="1"/>
          </p:nvPr>
        </p:nvSpPr>
        <p:spPr>
          <a:xfrm>
            <a:off x="457200" y="201168"/>
            <a:ext cx="5943600" cy="256032"/>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body" hasCustomPrompt="1"/>
          </p:nvPr>
        </p:nvSpPr>
        <p:spPr>
          <a:xfrm>
            <a:off x="6400800" y="201168"/>
            <a:ext cx="2286000" cy="256032"/>
          </a:xfrm>
          <a:prstGeom prst="rect">
            <a:avLst/>
          </a:prstGeom>
          <a:noFill/>
          <a:ln/>
        </p:spPr>
        <p:txBody>
          <a:bodyPr wrap="square" rtlCol="0"/>
          <a:lstStyle>
            <a:lvl1pPr algn="r" indent="0" marL="0">
              <a:buNone/>
              <a:defRPr lang="en-US" sz="1100" dirty="0">
                <a:solidFill>
                  <a:schemeClr val="accent5"/>
                </a:solidFill>
              </a:defRPr>
            </a:lvl1pPr>
          </a:lstStyle>
          <a:p>
            <a:pPr algn="r" indent="0" marL="0">
              <a:buNone/>
            </a:pPr>
            <a:endParaRPr lang="en-US" sz="1100" dirty="0"/>
          </a:p>
        </p:txBody>
      </p:sp>
      <p:sp>
        <p:nvSpPr>
          <p:cNvPr id="5" name="Text 1"/>
          <p:cNvSpPr/>
          <p:nvPr>
            <p:ph idx="103" type="title" hasCustomPrompt="1"/>
          </p:nvPr>
        </p:nvSpPr>
        <p:spPr>
          <a:xfrm>
            <a:off x="457200" y="45720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ctr"/>
          <a:lstStyle/>
          <a:p>
            <a:pPr indent="0" marL="0">
              <a:buNone/>
            </a:pPr>
            <a:r>
              <a:rPr lang="en-US" sz="1400" b="1" spc="400" kern="0" dirty="0">
                <a:solidFill>
                  <a:schemeClr val="accent2"/>
                </a:solidFill>
              </a:rPr>
              <a:t>WELCOME</a:t>
            </a:r>
            <a:endParaRPr lang="en-US" sz="1400" dirty="0"/>
          </a:p>
        </p:txBody>
      </p:sp>
      <p:sp>
        <p:nvSpPr>
          <p:cNvPr id="3" name="Text 1"/>
          <p:cNvSpPr txBox="1"/>
          <p:nvPr/>
        </p:nvSpPr>
        <p:spPr>
          <a:xfrm>
            <a:off x="548640" y="822960"/>
            <a:ext cx="8046720" cy="82296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IPL Power Ranking</a:t>
            </a:r>
            <a:endParaRPr lang="en-US" sz="4800" dirty="0"/>
          </a:p>
        </p:txBody>
      </p:sp>
      <p:sp>
        <p:nvSpPr>
          <p:cNvPr id="4" name="Text 2"/>
          <p:cNvSpPr txBox="1"/>
          <p:nvPr/>
        </p:nvSpPr>
        <p:spPr>
          <a:xfrm>
            <a:off x="548640" y="1691640"/>
            <a:ext cx="7315200" cy="731520"/>
          </a:xfrm>
          <a:prstGeom prst="rect">
            <a:avLst/>
          </a:prstGeom>
          <a:noFill/>
          <a:ln/>
        </p:spPr>
        <p:txBody>
          <a:bodyPr wrap="square" lIns="0" tIns="0" rIns="0" bIns="0" rtlCol="0" anchor="t"/>
          <a:lstStyle/>
          <a:p>
            <a:pPr indent="0" marL="0">
              <a:buNone/>
            </a:pPr>
            <a:r>
              <a:rPr lang="en-US" sz="1800" dirty="0">
                <a:solidFill>
                  <a:schemeClr val="bg2"/>
                </a:solidFill>
              </a:rPr>
              <a:t>Ranking 15 franchises with rank, projection and eigenvectors: eleven linear algebra steps from raw matches to a final table</a:t>
            </a:r>
            <a:endParaRPr lang="en-US" sz="1800" dirty="0"/>
          </a:p>
        </p:txBody>
      </p:sp>
      <p:sp>
        <p:nvSpPr>
          <p:cNvPr id="5" name="Text 3"/>
          <p:cNvSpPr txBox="1"/>
          <p:nvPr/>
        </p:nvSpPr>
        <p:spPr>
          <a:xfrm>
            <a:off x="548640" y="2606040"/>
            <a:ext cx="8046720" cy="320040"/>
          </a:xfrm>
          <a:prstGeom prst="rect">
            <a:avLst/>
          </a:prstGeom>
          <a:noFill/>
          <a:ln/>
        </p:spPr>
        <p:txBody>
          <a:bodyPr wrap="square" lIns="0" tIns="0" rIns="0" bIns="0" rtlCol="0" anchor="ctr"/>
          <a:lstStyle/>
          <a:p>
            <a:pPr indent="0" marL="0">
              <a:buNone/>
            </a:pPr>
            <a:r>
              <a:rPr lang="en-US" sz="1600" b="1" dirty="0">
                <a:solidFill>
                  <a:schemeClr val="accent2"/>
                </a:solidFill>
              </a:rPr>
              <a:t>1,243 matches   |   19 seasons   |   15 franchises</a:t>
            </a:r>
            <a:endParaRPr lang="en-US" sz="1600" dirty="0"/>
          </a:p>
        </p:txBody>
      </p:sp>
      <p:sp>
        <p:nvSpPr>
          <p:cNvPr id="6" name="Contributor card"/>
          <p:cNvSpPr/>
          <p:nvPr/>
        </p:nvSpPr>
        <p:spPr>
          <a:xfrm>
            <a:off x="548640" y="3383280"/>
            <a:ext cx="1920240" cy="1005840"/>
          </a:xfrm>
          <a:prstGeom prst="roundRect">
            <a:avLst>
              <a:gd name="adj" fmla="val 7273"/>
            </a:avLst>
          </a:prstGeom>
          <a:solidFill>
            <a:schemeClr val="accent1"/>
          </a:solidFill>
          <a:ln/>
        </p:spPr>
      </p:sp>
      <p:sp>
        <p:nvSpPr>
          <p:cNvPr id="7" name="Text 5"/>
          <p:cNvSpPr txBox="1"/>
          <p:nvPr/>
        </p:nvSpPr>
        <p:spPr>
          <a:xfrm>
            <a:off x="685800" y="3493008"/>
            <a:ext cx="1691640" cy="411480"/>
          </a:xfrm>
          <a:prstGeom prst="rect">
            <a:avLst/>
          </a:prstGeom>
          <a:noFill/>
          <a:ln/>
        </p:spPr>
        <p:txBody>
          <a:bodyPr wrap="square" lIns="0" tIns="0" rIns="0" bIns="0" rtlCol="0" anchor="ctr"/>
          <a:lstStyle/>
          <a:p>
            <a:pPr indent="0" marL="0">
              <a:buNone/>
            </a:pPr>
            <a:r>
              <a:rPr lang="en-US" sz="1600" b="1" dirty="0">
                <a:solidFill>
                  <a:schemeClr val="bg1"/>
                </a:solidFill>
              </a:rPr>
              <a:t>Anubhav Rai</a:t>
            </a:r>
            <a:endParaRPr lang="en-US" sz="1600" dirty="0"/>
          </a:p>
        </p:txBody>
      </p:sp>
      <p:sp>
        <p:nvSpPr>
          <p:cNvPr id="8" name="Text 6"/>
          <p:cNvSpPr txBox="1"/>
          <p:nvPr/>
        </p:nvSpPr>
        <p:spPr>
          <a:xfrm>
            <a:off x="685800" y="3931920"/>
            <a:ext cx="1691640" cy="320040"/>
          </a:xfrm>
          <a:prstGeom prst="rect">
            <a:avLst/>
          </a:prstGeom>
          <a:noFill/>
          <a:ln/>
        </p:spPr>
        <p:txBody>
          <a:bodyPr wrap="square" lIns="0" tIns="0" rIns="0" bIns="0" rtlCol="0" anchor="ctr"/>
          <a:lstStyle/>
          <a:p>
            <a:pPr indent="0" marL="0">
              <a:buNone/>
            </a:pPr>
            <a:r>
              <a:rPr lang="en-US" sz="1300" dirty="0">
                <a:solidFill>
                  <a:schemeClr val="bg2"/>
                </a:solidFill>
              </a:rPr>
              <a:t>PES1UG25CS078</a:t>
            </a:r>
            <a:endParaRPr lang="en-US" sz="1300" dirty="0"/>
          </a:p>
        </p:txBody>
      </p:sp>
      <p:sp>
        <p:nvSpPr>
          <p:cNvPr id="9" name="Contributor card"/>
          <p:cNvSpPr/>
          <p:nvPr/>
        </p:nvSpPr>
        <p:spPr>
          <a:xfrm>
            <a:off x="2606040" y="3383280"/>
            <a:ext cx="1920240" cy="1005840"/>
          </a:xfrm>
          <a:prstGeom prst="roundRect">
            <a:avLst>
              <a:gd name="adj" fmla="val 7273"/>
            </a:avLst>
          </a:prstGeom>
          <a:solidFill>
            <a:schemeClr val="accent1"/>
          </a:solidFill>
          <a:ln/>
        </p:spPr>
      </p:sp>
      <p:sp>
        <p:nvSpPr>
          <p:cNvPr id="10" name="Text 8"/>
          <p:cNvSpPr txBox="1"/>
          <p:nvPr/>
        </p:nvSpPr>
        <p:spPr>
          <a:xfrm>
            <a:off x="2743200" y="3493008"/>
            <a:ext cx="1691640" cy="411480"/>
          </a:xfrm>
          <a:prstGeom prst="rect">
            <a:avLst/>
          </a:prstGeom>
          <a:noFill/>
          <a:ln/>
        </p:spPr>
        <p:txBody>
          <a:bodyPr wrap="square" lIns="0" tIns="0" rIns="0" bIns="0" rtlCol="0" anchor="ctr"/>
          <a:lstStyle/>
          <a:p>
            <a:pPr indent="0" marL="0">
              <a:buNone/>
            </a:pPr>
            <a:r>
              <a:rPr lang="en-US" sz="1600" b="1" dirty="0">
                <a:solidFill>
                  <a:schemeClr val="bg1"/>
                </a:solidFill>
              </a:rPr>
              <a:t>Arnab Sen</a:t>
            </a:r>
            <a:endParaRPr lang="en-US" sz="1600" dirty="0"/>
          </a:p>
        </p:txBody>
      </p:sp>
      <p:sp>
        <p:nvSpPr>
          <p:cNvPr id="11" name="Text 9"/>
          <p:cNvSpPr txBox="1"/>
          <p:nvPr/>
        </p:nvSpPr>
        <p:spPr>
          <a:xfrm>
            <a:off x="2743200" y="3931920"/>
            <a:ext cx="1691640" cy="320040"/>
          </a:xfrm>
          <a:prstGeom prst="rect">
            <a:avLst/>
          </a:prstGeom>
          <a:noFill/>
          <a:ln/>
        </p:spPr>
        <p:txBody>
          <a:bodyPr wrap="square" lIns="0" tIns="0" rIns="0" bIns="0" rtlCol="0" anchor="ctr"/>
          <a:lstStyle/>
          <a:p>
            <a:pPr indent="0" marL="0">
              <a:buNone/>
            </a:pPr>
            <a:r>
              <a:rPr lang="en-US" sz="1300" dirty="0">
                <a:solidFill>
                  <a:schemeClr val="bg2"/>
                </a:solidFill>
              </a:rPr>
              <a:t>PES1UG25CS093</a:t>
            </a:r>
            <a:endParaRPr lang="en-US" sz="1300" dirty="0"/>
          </a:p>
        </p:txBody>
      </p:sp>
      <p:sp>
        <p:nvSpPr>
          <p:cNvPr id="12" name="Contributor card"/>
          <p:cNvSpPr/>
          <p:nvPr/>
        </p:nvSpPr>
        <p:spPr>
          <a:xfrm>
            <a:off x="4663440" y="3383280"/>
            <a:ext cx="1920240" cy="1005840"/>
          </a:xfrm>
          <a:prstGeom prst="roundRect">
            <a:avLst>
              <a:gd name="adj" fmla="val 7273"/>
            </a:avLst>
          </a:prstGeom>
          <a:solidFill>
            <a:schemeClr val="accent1"/>
          </a:solidFill>
          <a:ln/>
        </p:spPr>
      </p:sp>
      <p:sp>
        <p:nvSpPr>
          <p:cNvPr id="13" name="Text 11"/>
          <p:cNvSpPr txBox="1"/>
          <p:nvPr/>
        </p:nvSpPr>
        <p:spPr>
          <a:xfrm>
            <a:off x="4800600" y="3493008"/>
            <a:ext cx="1691640" cy="411480"/>
          </a:xfrm>
          <a:prstGeom prst="rect">
            <a:avLst/>
          </a:prstGeom>
          <a:noFill/>
          <a:ln/>
        </p:spPr>
        <p:txBody>
          <a:bodyPr wrap="square" lIns="0" tIns="0" rIns="0" bIns="0" rtlCol="0" anchor="ctr"/>
          <a:lstStyle/>
          <a:p>
            <a:pPr indent="0" marL="0">
              <a:buNone/>
            </a:pPr>
            <a:r>
              <a:rPr lang="en-US" sz="1600" b="1" dirty="0">
                <a:solidFill>
                  <a:schemeClr val="bg1"/>
                </a:solidFill>
              </a:rPr>
              <a:t>Anish Alladi</a:t>
            </a:r>
            <a:endParaRPr lang="en-US" sz="1600" dirty="0"/>
          </a:p>
        </p:txBody>
      </p:sp>
      <p:sp>
        <p:nvSpPr>
          <p:cNvPr id="14" name="Text 12"/>
          <p:cNvSpPr txBox="1"/>
          <p:nvPr/>
        </p:nvSpPr>
        <p:spPr>
          <a:xfrm>
            <a:off x="4800600" y="3931920"/>
            <a:ext cx="1691640" cy="320040"/>
          </a:xfrm>
          <a:prstGeom prst="rect">
            <a:avLst/>
          </a:prstGeom>
          <a:noFill/>
          <a:ln/>
        </p:spPr>
        <p:txBody>
          <a:bodyPr wrap="square" lIns="0" tIns="0" rIns="0" bIns="0" rtlCol="0" anchor="ctr"/>
          <a:lstStyle/>
          <a:p>
            <a:pPr indent="0" marL="0">
              <a:buNone/>
            </a:pPr>
            <a:r>
              <a:rPr lang="en-US" sz="1300" dirty="0">
                <a:solidFill>
                  <a:schemeClr val="bg2"/>
                </a:solidFill>
              </a:rPr>
              <a:t>PES1UG25CS070</a:t>
            </a:r>
            <a:endParaRPr lang="en-US" sz="1300" dirty="0"/>
          </a:p>
        </p:txBody>
      </p:sp>
      <p:sp>
        <p:nvSpPr>
          <p:cNvPr id="15" name="Contributor card"/>
          <p:cNvSpPr/>
          <p:nvPr/>
        </p:nvSpPr>
        <p:spPr>
          <a:xfrm>
            <a:off x="6720840" y="3383280"/>
            <a:ext cx="1920240" cy="1005840"/>
          </a:xfrm>
          <a:prstGeom prst="roundRect">
            <a:avLst>
              <a:gd name="adj" fmla="val 7273"/>
            </a:avLst>
          </a:prstGeom>
          <a:solidFill>
            <a:schemeClr val="accent1"/>
          </a:solidFill>
          <a:ln/>
        </p:spPr>
      </p:sp>
      <p:sp>
        <p:nvSpPr>
          <p:cNvPr id="16" name="Text 14"/>
          <p:cNvSpPr txBox="1"/>
          <p:nvPr/>
        </p:nvSpPr>
        <p:spPr>
          <a:xfrm>
            <a:off x="6858000" y="3493008"/>
            <a:ext cx="1691640" cy="411480"/>
          </a:xfrm>
          <a:prstGeom prst="rect">
            <a:avLst/>
          </a:prstGeom>
          <a:noFill/>
          <a:ln/>
        </p:spPr>
        <p:txBody>
          <a:bodyPr wrap="square" lIns="0" tIns="0" rIns="0" bIns="0" rtlCol="0" anchor="ctr"/>
          <a:lstStyle/>
          <a:p>
            <a:pPr indent="0" marL="0">
              <a:buNone/>
            </a:pPr>
            <a:r>
              <a:rPr lang="en-US" sz="1600" b="1" dirty="0">
                <a:solidFill>
                  <a:schemeClr val="bg1"/>
                </a:solidFill>
              </a:rPr>
              <a:t>Anish De</a:t>
            </a:r>
            <a:endParaRPr lang="en-US" sz="1600" dirty="0"/>
          </a:p>
        </p:txBody>
      </p:sp>
      <p:sp>
        <p:nvSpPr>
          <p:cNvPr id="17" name="Text 15"/>
          <p:cNvSpPr txBox="1"/>
          <p:nvPr/>
        </p:nvSpPr>
        <p:spPr>
          <a:xfrm>
            <a:off x="6858000" y="3931920"/>
            <a:ext cx="1691640" cy="320040"/>
          </a:xfrm>
          <a:prstGeom prst="rect">
            <a:avLst/>
          </a:prstGeom>
          <a:noFill/>
          <a:ln/>
        </p:spPr>
        <p:txBody>
          <a:bodyPr wrap="square" lIns="0" tIns="0" rIns="0" bIns="0" rtlCol="0" anchor="ctr"/>
          <a:lstStyle/>
          <a:p>
            <a:pPr indent="0" marL="0">
              <a:buNone/>
            </a:pPr>
            <a:r>
              <a:rPr lang="en-US" sz="1300" dirty="0">
                <a:solidFill>
                  <a:schemeClr val="bg2"/>
                </a:solidFill>
              </a:rPr>
              <a:t>PES1UG25CS071</a:t>
            </a:r>
            <a:endParaRPr lang="en-US" sz="1300" dirty="0"/>
          </a:p>
        </p:txBody>
      </p:sp>
      <p:sp>
        <p:nvSpPr>
          <p:cNvPr id="18" name="Text 16"/>
          <p:cNvSpPr txBox="1"/>
          <p:nvPr/>
        </p:nvSpPr>
        <p:spPr>
          <a:xfrm>
            <a:off x="548640" y="4617720"/>
            <a:ext cx="8046720" cy="274320"/>
          </a:xfrm>
          <a:prstGeom prst="rect">
            <a:avLst/>
          </a:prstGeom>
          <a:noFill/>
          <a:ln/>
        </p:spPr>
        <p:txBody>
          <a:bodyPr wrap="square" lIns="0" tIns="0" rIns="0" bIns="0" rtlCol="0" anchor="ctr"/>
          <a:lstStyle/>
          <a:p>
            <a:pPr indent="0" marL="0">
              <a:buNone/>
            </a:pPr>
            <a:r>
              <a:rPr lang="en-US" sz="1200" dirty="0">
                <a:solidFill>
                  <a:schemeClr val="bg2"/>
                </a:solidFill>
              </a:rPr>
              <a:t>PES University  |  Linear Algebra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1  |  REAL-WORLD DATA</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Anubhav</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The data decides the maths</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1" descr="The data decides the maths">    </p:cNvPr>
          <p:cNvPicPr>
            <a:picLocks noChangeAspect="1"/>
          </p:cNvPicPr>
          <p:nvPr/>
        </p:nvPicPr>
        <p:blipFill>
          <a:blip r:embed="rId1"/>
          <a:stretch>
            <a:fillRect/>
          </a:stretch>
        </p:blipFill>
        <p:spPr>
          <a:xfrm>
            <a:off x="662940" y="1325880"/>
            <a:ext cx="5257800" cy="2560320"/>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660 wicket-only matches are not converted to runs: that factor would have to be invented, so we build two honest models.</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1,218</a:t>
            </a:r>
            <a:endParaRPr lang="en-US" sz="24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decided matches, used by the Colley model</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558</a:t>
            </a:r>
            <a:endParaRPr lang="en-US" sz="24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run-margin matches, used by the Massey model</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25</a:t>
            </a:r>
            <a:endParaRPr lang="en-US" sz="24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excluded: no winner (2.01%)</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2  |  MATRIX REPRESENTATION</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Anubhav</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One match, one equation</a:t>
            </a:r>
            <a:endParaRPr lang="en-US" sz="3200" dirty="0"/>
          </a:p>
        </p:txBody>
      </p:sp>
      <p:sp>
        <p:nvSpPr>
          <p:cNvPr id="6" name="Figure card"/>
          <p:cNvSpPr/>
          <p:nvPr/>
        </p:nvSpPr>
        <p:spPr>
          <a:xfrm>
            <a:off x="457200" y="1234440"/>
            <a:ext cx="5669280" cy="3429000"/>
          </a:xfrm>
          <a:prstGeom prst="roundRect">
            <a:avLst>
              <a:gd name="adj" fmla="val 2133"/>
            </a:avLst>
          </a:prstGeom>
          <a:solidFill>
            <a:schemeClr val="bg1"/>
          </a:solidFill>
          <a:ln/>
          <a:effectLst>
            <a:outerShdw sx="100000" sy="100000" kx="0" ky="0" algn="bl" rotWithShape="0" blurRad="76200" dist="25400" dir="5400000">
              <a:srgbClr val="000000">
                <a:alpha val="12000"/>
              </a:srgbClr>
            </a:outerShdw>
          </a:effectLst>
        </p:spPr>
      </p:sp>
      <p:pic>
        <p:nvPicPr>
          <p:cNvPr id="7" name="Figure 02" descr="One match, one equation">    </p:cNvPr>
          <p:cNvPicPr>
            <a:picLocks noChangeAspect="1"/>
          </p:cNvPicPr>
          <p:nvPr/>
        </p:nvPicPr>
        <p:blipFill>
          <a:blip r:embed="rId1"/>
          <a:stretch>
            <a:fillRect/>
          </a:stretch>
        </p:blipFill>
        <p:spPr>
          <a:xfrm>
            <a:off x="932741" y="1325880"/>
            <a:ext cx="4718198" cy="3246120"/>
          </a:xfrm>
          <a:prstGeom prst="rect">
            <a:avLst/>
          </a:prstGeom>
        </p:spPr>
      </p:pic>
      <p:sp>
        <p:nvSpPr>
          <p:cNvPr id="8"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9"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558 x 15</a:t>
            </a:r>
            <a:endParaRPr lang="en-US" sz="2400" dirty="0"/>
          </a:p>
        </p:txBody>
      </p:sp>
      <p:sp>
        <p:nvSpPr>
          <p:cNvPr id="10"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matrix A: a row per match, a column per franchise</a:t>
            </a:r>
            <a:endParaRPr lang="en-US" sz="1200" dirty="0"/>
          </a:p>
        </p:txBody>
      </p:sp>
      <p:sp>
        <p:nvSpPr>
          <p:cNvPr id="11" name="Stat card"/>
          <p:cNvSpPr/>
          <p:nvPr/>
        </p:nvSpPr>
        <p:spPr>
          <a:xfrm>
            <a:off x="6355080" y="2304288"/>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2" name="Stat value"/>
          <p:cNvSpPr txBox="1"/>
          <p:nvPr/>
        </p:nvSpPr>
        <p:spPr>
          <a:xfrm>
            <a:off x="6492240" y="2377440"/>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row sum = 0</a:t>
            </a:r>
            <a:endParaRPr lang="en-US" sz="2400" dirty="0"/>
          </a:p>
        </p:txBody>
      </p:sp>
      <p:sp>
        <p:nvSpPr>
          <p:cNvPr id="13" name="Stat label"/>
          <p:cNvSpPr txBox="1"/>
          <p:nvPr/>
        </p:nvSpPr>
        <p:spPr>
          <a:xfrm>
            <a:off x="6492240" y="2834640"/>
            <a:ext cx="2057400" cy="393192"/>
          </a:xfrm>
          <a:prstGeom prst="rect">
            <a:avLst/>
          </a:prstGeom>
          <a:noFill/>
          <a:ln/>
        </p:spPr>
        <p:txBody>
          <a:bodyPr wrap="square" lIns="0" tIns="0" rIns="0" bIns="0" rtlCol="0" anchor="t"/>
          <a:lstStyle/>
          <a:p>
            <a:pPr indent="0" marL="0">
              <a:buNone/>
            </a:pPr>
            <a:r>
              <a:rPr lang="en-US" sz="1200" dirty="0">
                <a:solidFill>
                  <a:schemeClr val="tx1"/>
                </a:solidFill>
              </a:rPr>
              <a:t>so A times the all-ones vector is 0</a:t>
            </a:r>
            <a:endParaRPr lang="en-US" sz="1200" dirty="0"/>
          </a:p>
        </p:txBody>
      </p:sp>
      <p:sp>
        <p:nvSpPr>
          <p:cNvPr id="14" name="Takeaway"/>
          <p:cNvSpPr txBox="1"/>
          <p:nvPr/>
        </p:nvSpPr>
        <p:spPr>
          <a:xfrm>
            <a:off x="6355080" y="3447288"/>
            <a:ext cx="2331720" cy="1261872"/>
          </a:xfrm>
          <a:prstGeom prst="rect">
            <a:avLst/>
          </a:prstGeom>
          <a:noFill/>
          <a:ln/>
        </p:spPr>
        <p:txBody>
          <a:bodyPr wrap="square" lIns="0" tIns="0" rIns="0" bIns="0" rtlCol="0" anchor="t"/>
          <a:lstStyle/>
          <a:p>
            <a:pPr indent="0" marL="0">
              <a:buNone/>
            </a:pPr>
            <a:r>
              <a:rPr lang="en-US" sz="1400" dirty="0">
                <a:solidFill>
                  <a:schemeClr val="tx1"/>
                </a:solidFill>
              </a:rPr>
              <a:t>Each row: +1 for the winner, -1 for the loser, 0 for the other 13 teams. We solve A x = b, where b holds the run margins and x the team strengths.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3  |  MATRIX SIMPLIFICATION</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Anubhav</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Row reduction: the pivots</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3" descr="Row reduction: the pivots">    </p:cNvPr>
          <p:cNvPicPr>
            <a:picLocks noChangeAspect="1"/>
          </p:cNvPicPr>
          <p:nvPr/>
        </p:nvPicPr>
        <p:blipFill>
          <a:blip r:embed="rId1"/>
          <a:stretch>
            <a:fillRect/>
          </a:stretch>
        </p:blipFill>
        <p:spPr>
          <a:xfrm>
            <a:off x="548640" y="1420978"/>
            <a:ext cx="5486400" cy="2370125"/>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Hand-written elimination with partial pivoting. The zero row is the null direction, not a missing row.</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14</a:t>
            </a:r>
            <a:endParaRPr lang="en-US" sz="24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pivot rows after Gauss-Jordan elimination</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free column: Sunrisers Hyderabad, no pivot</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544</a:t>
            </a:r>
            <a:endParaRPr lang="en-US" sz="24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rows reduce to zero</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4  |  STRUCTURE OF THE SPACE</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Arnab</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Rank 14 of 15, nullity 1</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4" descr="Rank 14 of 15, nullity 1">    </p:cNvPr>
          <p:cNvPicPr>
            <a:picLocks noChangeAspect="1"/>
          </p:cNvPicPr>
          <p:nvPr/>
        </p:nvPicPr>
        <p:blipFill>
          <a:blip r:embed="rId1"/>
          <a:stretch>
            <a:fillRect/>
          </a:stretch>
        </p:blipFill>
        <p:spPr>
          <a:xfrm>
            <a:off x="917350" y="1325880"/>
            <a:ext cx="4748981" cy="2560320"/>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Adding the same runs to every team changes no prediction, so only differences between teams are identifiable.</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rank 14</a:t>
            </a:r>
            <a:endParaRPr lang="en-US" sz="22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of n = 15 columns</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nullity 1</a:t>
            </a:r>
            <a:endParaRPr lang="en-US" sz="22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the null vector is the all-ones vector</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5.0e-15</a:t>
            </a:r>
            <a:endParaRPr lang="en-US" sz="22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sigma 15, 14.6 orders below sigma 14 = 2.22</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5  |  REMOVE REDUNDANCY</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Arnab</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Only 14 rows matter</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5" descr="Only 14 rows matter">    </p:cNvPr>
          <p:cNvPicPr>
            <a:picLocks noChangeAspect="1"/>
          </p:cNvPicPr>
          <p:nvPr/>
        </p:nvPicPr>
        <p:blipFill>
          <a:blip r:embed="rId1"/>
          <a:stretch>
            <a:fillRect/>
          </a:stretch>
        </p:blipFill>
        <p:spPr>
          <a:xfrm>
            <a:off x="710872" y="1325880"/>
            <a:ext cx="5161935" cy="2560320"/>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The 14 basis rows are taken verbatim from A, with no recombination.</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14</a:t>
            </a:r>
            <a:endParaRPr lang="en-US" sz="24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linearly independent rows: the row-space basis</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544</a:t>
            </a:r>
            <a:endParaRPr lang="en-US" sz="24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redundant rows, combinations of those 14</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2.5%</a:t>
            </a:r>
            <a:endParaRPr lang="en-US" sz="24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of the 558 equations carry all the information</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6  |  ORTHOGONALIZATION</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Arnab</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Orthonormal bases</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6" descr="Orthonormal bases">    </p:cNvPr>
          <p:cNvPicPr>
            <a:picLocks noChangeAspect="1"/>
          </p:cNvPicPr>
          <p:nvPr/>
        </p:nvPicPr>
        <p:blipFill>
          <a:blip r:embed="rId1"/>
          <a:stretch>
            <a:fillRect/>
          </a:stretch>
        </p:blipFill>
        <p:spPr>
          <a:xfrm>
            <a:off x="548640" y="1339948"/>
            <a:ext cx="5486400" cy="2532185"/>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Two different spaces: QR orthogonalises Col(A) in R^558, Gram-Schmidt orthogonalises Row(A) in R^15.</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14 + 1</a:t>
            </a:r>
            <a:endParaRPr lang="en-US" sz="24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QR columns: 14 span Col(A), 1 lies outside it</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Q Q^T = I</a:t>
            </a:r>
            <a:endParaRPr lang="en-US" sz="24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Gram-Schmidt basis of Row(A), 14 x 15</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2e-14</a:t>
            </a:r>
            <a:endParaRPr lang="en-US" sz="24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q15 sees nothing of A</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7  |  PROJECTION</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Arnab</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Projecting b onto Col(A)</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7" descr="Projecting b onto Col(A)">    </p:cNvPr>
          <p:cNvPicPr>
            <a:picLocks noChangeAspect="1"/>
          </p:cNvPicPr>
          <p:nvPr/>
        </p:nvPicPr>
        <p:blipFill>
          <a:blip r:embed="rId1"/>
          <a:stretch>
            <a:fillRect/>
          </a:stretch>
        </p:blipFill>
        <p:spPr>
          <a:xfrm>
            <a:off x="548640" y="1339948"/>
            <a:ext cx="5486400" cy="2532185"/>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b = A x-hat + r with r perpendicular to Col(A). Pythagoras holds: 928,185 + 20,259 = ||b||^2.</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142.33</a:t>
            </a:r>
            <a:endParaRPr lang="en-US" sz="22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runs: length of the fitted part, A x-hat</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963.42</a:t>
            </a:r>
            <a:endParaRPr lang="en-US" sz="22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runs: length of the residual r</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9e-14</a:t>
            </a:r>
            <a:endParaRPr lang="en-US" sz="22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max |r . q_j|: A^T r = 0, the normal equations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8  |  PREDICTION / LEAST SQUARES</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Anish A.</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Least squares: a weak fit</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8" descr="Least squares: a weak fit">    </p:cNvPr>
          <p:cNvPicPr>
            <a:picLocks noChangeAspect="1"/>
          </p:cNvPicPr>
          <p:nvPr/>
        </p:nvPicPr>
        <p:blipFill>
          <a:blip r:embed="rId1"/>
          <a:stretch>
            <a:fillRect/>
          </a:stretch>
        </p:blipFill>
        <p:spPr>
          <a:xfrm>
            <a:off x="607634" y="1325880"/>
            <a:ext cx="5368413" cy="2560320"/>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The residual spread (36.9) is almost the whole spread of the data (37.1): the fit shrinks large margins.</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-0.21</a:t>
            </a:r>
            <a:endParaRPr lang="en-US" sz="22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centred R^2: worse than predicting the mean margin</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55.0%</a:t>
            </a:r>
            <a:endParaRPr lang="en-US" sz="22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winner accuracy</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7.0 vs 36.9</a:t>
            </a:r>
            <a:endParaRPr lang="en-US" sz="22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runs: spread of fitted strengths vs residual</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9  |  PATTERN DISCOVERY</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Anish A.</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Colley: the leading eigenvector</a:t>
            </a:r>
            <a:endParaRPr lang="en-US" sz="3200" dirty="0"/>
          </a:p>
        </p:txBody>
      </p:sp>
      <p:sp>
        <p:nvSpPr>
          <p:cNvPr id="6" name="Figure card"/>
          <p:cNvSpPr/>
          <p:nvPr/>
        </p:nvSpPr>
        <p:spPr>
          <a:xfrm>
            <a:off x="457200" y="1234440"/>
            <a:ext cx="5669280" cy="27432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pic>
        <p:nvPicPr>
          <p:cNvPr id="7" name="Figure 09" descr="Colley: the leading eigenvector">    </p:cNvPr>
          <p:cNvPicPr>
            <a:picLocks noChangeAspect="1"/>
          </p:cNvPicPr>
          <p:nvPr/>
        </p:nvPicPr>
        <p:blipFill>
          <a:blip r:embed="rId1"/>
          <a:stretch>
            <a:fillRect/>
          </a:stretch>
        </p:blipFill>
        <p:spPr>
          <a:xfrm>
            <a:off x="548640" y="1339948"/>
            <a:ext cx="5486400" cy="2532185"/>
          </a:xfrm>
          <a:prstGeom prst="rect">
            <a:avLst/>
          </a:prstGeom>
        </p:spPr>
      </p:pic>
      <p:sp>
        <p:nvSpPr>
          <p:cNvPr id="8" name="Takeaway"/>
          <p:cNvSpPr txBox="1"/>
          <p:nvPr/>
        </p:nvSpPr>
        <p:spPr>
          <a:xfrm>
            <a:off x="457200" y="4114800"/>
            <a:ext cx="5669280" cy="594360"/>
          </a:xfrm>
          <a:prstGeom prst="rect">
            <a:avLst/>
          </a:prstGeom>
          <a:noFill/>
          <a:ln/>
        </p:spPr>
        <p:txBody>
          <a:bodyPr wrap="square" lIns="0" tIns="0" rIns="0" bIns="0" rtlCol="0" anchor="t"/>
          <a:lstStyle/>
          <a:p>
            <a:pPr indent="0" marL="0">
              <a:buNone/>
            </a:pPr>
            <a:r>
              <a:rPr lang="en-US" sz="1400" dirty="0">
                <a:solidFill>
                  <a:schemeClr val="tx1"/>
                </a:solidFill>
              </a:rPr>
              <a:t>M = W + W^T + C is symmetric and non-negative, built from all 1,218 decided matches.</a:t>
            </a:r>
            <a:endParaRPr lang="en-US" sz="1400" dirty="0"/>
          </a:p>
        </p:txBody>
      </p:sp>
      <p:sp>
        <p:nvSpPr>
          <p:cNvPr id="9"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0"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469.18</a:t>
            </a:r>
            <a:endParaRPr lang="en-US" sz="2400" dirty="0"/>
          </a:p>
        </p:txBody>
      </p:sp>
      <p:sp>
        <p:nvSpPr>
          <p:cNvPr id="11"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lambda 1, found by power iteration in 9 steps</a:t>
            </a:r>
            <a:endParaRPr lang="en-US" sz="1200" dirty="0"/>
          </a:p>
        </p:txBody>
      </p:sp>
      <p:sp>
        <p:nvSpPr>
          <p:cNvPr id="12" name="Stat card"/>
          <p:cNvSpPr/>
          <p:nvPr/>
        </p:nvSpPr>
        <p:spPr>
          <a:xfrm>
            <a:off x="6355080" y="233172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3" name="Stat value"/>
          <p:cNvSpPr txBox="1"/>
          <p:nvPr/>
        </p:nvSpPr>
        <p:spPr>
          <a:xfrm>
            <a:off x="6492240" y="240487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31.7x</a:t>
            </a:r>
            <a:endParaRPr lang="en-US" sz="2400" dirty="0"/>
          </a:p>
        </p:txBody>
      </p:sp>
      <p:sp>
        <p:nvSpPr>
          <p:cNvPr id="14" name="Stat label"/>
          <p:cNvSpPr txBox="1"/>
          <p:nvPr/>
        </p:nvSpPr>
        <p:spPr>
          <a:xfrm>
            <a:off x="6492240" y="2862072"/>
            <a:ext cx="2057400" cy="393192"/>
          </a:xfrm>
          <a:prstGeom prst="rect">
            <a:avLst/>
          </a:prstGeom>
          <a:noFill/>
          <a:ln/>
        </p:spPr>
        <p:txBody>
          <a:bodyPr wrap="square" lIns="0" tIns="0" rIns="0" bIns="0" rtlCol="0" anchor="t"/>
          <a:lstStyle/>
          <a:p>
            <a:pPr indent="0" marL="0">
              <a:buNone/>
            </a:pPr>
            <a:r>
              <a:rPr lang="en-US" sz="1200" dirty="0">
                <a:solidFill>
                  <a:schemeClr val="tx1"/>
                </a:solidFill>
              </a:rPr>
              <a:t>lambda 1 over lambda 2 = 14.81</a:t>
            </a:r>
            <a:endParaRPr lang="en-US" sz="1200" dirty="0"/>
          </a:p>
        </p:txBody>
      </p:sp>
      <p:sp>
        <p:nvSpPr>
          <p:cNvPr id="15" name="Stat card"/>
          <p:cNvSpPr/>
          <p:nvPr/>
        </p:nvSpPr>
        <p:spPr>
          <a:xfrm>
            <a:off x="6355080" y="342900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6" name="Stat value"/>
          <p:cNvSpPr txBox="1"/>
          <p:nvPr/>
        </p:nvSpPr>
        <p:spPr>
          <a:xfrm>
            <a:off x="6492240" y="3502152"/>
            <a:ext cx="20574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&gt; 0</a:t>
            </a:r>
            <a:endParaRPr lang="en-US" sz="2400" dirty="0"/>
          </a:p>
        </p:txBody>
      </p:sp>
      <p:sp>
        <p:nvSpPr>
          <p:cNvPr id="17" name="Stat label"/>
          <p:cNvSpPr txBox="1"/>
          <p:nvPr/>
        </p:nvSpPr>
        <p:spPr>
          <a:xfrm>
            <a:off x="6492240" y="3959352"/>
            <a:ext cx="2057400" cy="393192"/>
          </a:xfrm>
          <a:prstGeom prst="rect">
            <a:avLst/>
          </a:prstGeom>
          <a:noFill/>
          <a:ln/>
        </p:spPr>
        <p:txBody>
          <a:bodyPr wrap="square" lIns="0" tIns="0" rIns="0" bIns="0" rtlCol="0" anchor="t"/>
          <a:lstStyle/>
          <a:p>
            <a:pPr indent="0" marL="0">
              <a:buNone/>
            </a:pPr>
            <a:r>
              <a:rPr lang="en-US" sz="1200" dirty="0">
                <a:solidFill>
                  <a:schemeClr val="tx1"/>
                </a:solidFill>
              </a:rPr>
              <a:t>every share strictly positive (Perron-Frobenius)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10  |  SYSTEM SIMPLIFICATION</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Anish A.</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Diagonalising A-transpose A</a:t>
            </a:r>
            <a:endParaRPr lang="en-US" sz="3200" dirty="0"/>
          </a:p>
        </p:txBody>
      </p:sp>
      <p:sp>
        <p:nvSpPr>
          <p:cNvPr id="6" name="Figure card"/>
          <p:cNvSpPr/>
          <p:nvPr/>
        </p:nvSpPr>
        <p:spPr>
          <a:xfrm>
            <a:off x="457200" y="1234440"/>
            <a:ext cx="8229600" cy="1691640"/>
          </a:xfrm>
          <a:prstGeom prst="roundRect">
            <a:avLst>
              <a:gd name="adj" fmla="val 4324"/>
            </a:avLst>
          </a:prstGeom>
          <a:solidFill>
            <a:schemeClr val="bg1"/>
          </a:solidFill>
          <a:ln/>
          <a:effectLst>
            <a:outerShdw sx="100000" sy="100000" kx="0" ky="0" algn="bl" rotWithShape="0" blurRad="76200" dist="25400" dir="5400000">
              <a:srgbClr val="000000">
                <a:alpha val="12000"/>
              </a:srgbClr>
            </a:outerShdw>
          </a:effectLst>
        </p:spPr>
      </p:sp>
      <p:pic>
        <p:nvPicPr>
          <p:cNvPr id="7" name="Figure 10c" descr="Singular values of A and eigenvalues of A transpose A">    </p:cNvPr>
          <p:cNvPicPr>
            <a:picLocks noChangeAspect="1"/>
          </p:cNvPicPr>
          <p:nvPr/>
        </p:nvPicPr>
        <p:blipFill>
          <a:blip r:embed="rId1"/>
          <a:stretch>
            <a:fillRect/>
          </a:stretch>
        </p:blipFill>
        <p:spPr>
          <a:xfrm>
            <a:off x="681700" y="1325880"/>
            <a:ext cx="7780601" cy="1508760"/>
          </a:xfrm>
          <a:prstGeom prst="rect">
            <a:avLst/>
          </a:prstGeom>
        </p:spPr>
      </p:pic>
      <p:sp>
        <p:nvSpPr>
          <p:cNvPr id="8" name="Stat card"/>
          <p:cNvSpPr/>
          <p:nvPr/>
        </p:nvSpPr>
        <p:spPr>
          <a:xfrm>
            <a:off x="457200" y="3154680"/>
            <a:ext cx="2651760" cy="1097280"/>
          </a:xfrm>
          <a:prstGeom prst="roundRect">
            <a:avLst>
              <a:gd name="adj" fmla="val 6667"/>
            </a:avLst>
          </a:prstGeom>
          <a:solidFill>
            <a:schemeClr val="bg1"/>
          </a:solidFill>
          <a:ln/>
          <a:effectLst>
            <a:outerShdw sx="100000" sy="100000" kx="0" ky="0" algn="bl" rotWithShape="0" blurRad="76200" dist="25400" dir="5400000">
              <a:srgbClr val="000000">
                <a:alpha val="12000"/>
              </a:srgbClr>
            </a:outerShdw>
          </a:effectLst>
        </p:spPr>
      </p:sp>
      <p:sp>
        <p:nvSpPr>
          <p:cNvPr id="9" name="Stat value"/>
          <p:cNvSpPr txBox="1"/>
          <p:nvPr/>
        </p:nvSpPr>
        <p:spPr>
          <a:xfrm>
            <a:off x="594360" y="3227832"/>
            <a:ext cx="237744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15 x 15</a:t>
            </a:r>
            <a:endParaRPr lang="en-US" sz="2200" dirty="0"/>
          </a:p>
        </p:txBody>
      </p:sp>
      <p:sp>
        <p:nvSpPr>
          <p:cNvPr id="10" name="Stat label"/>
          <p:cNvSpPr txBox="1"/>
          <p:nvPr/>
        </p:nvSpPr>
        <p:spPr>
          <a:xfrm>
            <a:off x="594360" y="3685032"/>
            <a:ext cx="2377440" cy="530352"/>
          </a:xfrm>
          <a:prstGeom prst="rect">
            <a:avLst/>
          </a:prstGeom>
          <a:noFill/>
          <a:ln/>
        </p:spPr>
        <p:txBody>
          <a:bodyPr wrap="square" lIns="0" tIns="0" rIns="0" bIns="0" rtlCol="0" anchor="t"/>
          <a:lstStyle/>
          <a:p>
            <a:pPr indent="0" marL="0">
              <a:buNone/>
            </a:pPr>
            <a:r>
              <a:rPr lang="en-US" sz="1200" dirty="0">
                <a:solidFill>
                  <a:schemeClr val="tx1"/>
                </a:solidFill>
              </a:rPr>
              <a:t>A^T A is symmetric PSD and replaces the 558 x 15 matrix</a:t>
            </a:r>
            <a:endParaRPr lang="en-US" sz="1200" dirty="0"/>
          </a:p>
        </p:txBody>
      </p:sp>
      <p:sp>
        <p:nvSpPr>
          <p:cNvPr id="11" name="Stat card"/>
          <p:cNvSpPr/>
          <p:nvPr/>
        </p:nvSpPr>
        <p:spPr>
          <a:xfrm>
            <a:off x="3246120" y="3154680"/>
            <a:ext cx="2651760" cy="1097280"/>
          </a:xfrm>
          <a:prstGeom prst="roundRect">
            <a:avLst>
              <a:gd name="adj" fmla="val 6667"/>
            </a:avLst>
          </a:prstGeom>
          <a:solidFill>
            <a:schemeClr val="bg1"/>
          </a:solidFill>
          <a:ln/>
          <a:effectLst>
            <a:outerShdw sx="100000" sy="100000" kx="0" ky="0" algn="bl" rotWithShape="0" blurRad="76200" dist="25400" dir="5400000">
              <a:srgbClr val="000000">
                <a:alpha val="12000"/>
              </a:srgbClr>
            </a:outerShdw>
          </a:effectLst>
        </p:spPr>
      </p:sp>
      <p:sp>
        <p:nvSpPr>
          <p:cNvPr id="12" name="Stat value"/>
          <p:cNvSpPr txBox="1"/>
          <p:nvPr/>
        </p:nvSpPr>
        <p:spPr>
          <a:xfrm>
            <a:off x="3383280" y="3227832"/>
            <a:ext cx="237744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lambda = sigma^2</a:t>
            </a:r>
            <a:endParaRPr lang="en-US" sz="2200" dirty="0"/>
          </a:p>
        </p:txBody>
      </p:sp>
      <p:sp>
        <p:nvSpPr>
          <p:cNvPr id="13" name="Stat label"/>
          <p:cNvSpPr txBox="1"/>
          <p:nvPr/>
        </p:nvSpPr>
        <p:spPr>
          <a:xfrm>
            <a:off x="3383280" y="3685032"/>
            <a:ext cx="2377440" cy="530352"/>
          </a:xfrm>
          <a:prstGeom prst="rect">
            <a:avLst/>
          </a:prstGeom>
          <a:noFill/>
          <a:ln/>
        </p:spPr>
        <p:txBody>
          <a:bodyPr wrap="square" lIns="0" tIns="0" rIns="0" bIns="0" rtlCol="0" anchor="t"/>
          <a:lstStyle/>
          <a:p>
            <a:pPr indent="0" marL="0">
              <a:buNone/>
            </a:pPr>
            <a:r>
              <a:rPr lang="en-US" sz="1200" dirty="0">
                <a:solidFill>
                  <a:schemeClr val="tx1"/>
                </a:solidFill>
              </a:rPr>
              <a:t>eigenvalues of A^T A equal the squared singular values</a:t>
            </a:r>
            <a:endParaRPr lang="en-US" sz="1200" dirty="0"/>
          </a:p>
        </p:txBody>
      </p:sp>
      <p:sp>
        <p:nvSpPr>
          <p:cNvPr id="14" name="Stat card"/>
          <p:cNvSpPr/>
          <p:nvPr/>
        </p:nvSpPr>
        <p:spPr>
          <a:xfrm>
            <a:off x="6035040" y="3154680"/>
            <a:ext cx="2651760" cy="1097280"/>
          </a:xfrm>
          <a:prstGeom prst="roundRect">
            <a:avLst>
              <a:gd name="adj" fmla="val 6667"/>
            </a:avLst>
          </a:prstGeom>
          <a:solidFill>
            <a:schemeClr val="bg1"/>
          </a:solidFill>
          <a:ln/>
          <a:effectLst>
            <a:outerShdw sx="100000" sy="100000" kx="0" ky="0" algn="bl" rotWithShape="0" blurRad="76200" dist="25400" dir="5400000">
              <a:srgbClr val="000000">
                <a:alpha val="12000"/>
              </a:srgbClr>
            </a:outerShdw>
          </a:effectLst>
        </p:spPr>
      </p:sp>
      <p:sp>
        <p:nvSpPr>
          <p:cNvPr id="15" name="Stat value"/>
          <p:cNvSpPr txBox="1"/>
          <p:nvPr/>
        </p:nvSpPr>
        <p:spPr>
          <a:xfrm>
            <a:off x="6172200" y="3227832"/>
            <a:ext cx="237744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1 zero</a:t>
            </a:r>
            <a:endParaRPr lang="en-US" sz="2200" dirty="0"/>
          </a:p>
        </p:txBody>
      </p:sp>
      <p:sp>
        <p:nvSpPr>
          <p:cNvPr id="16" name="Stat label"/>
          <p:cNvSpPr txBox="1"/>
          <p:nvPr/>
        </p:nvSpPr>
        <p:spPr>
          <a:xfrm>
            <a:off x="6172200" y="3685032"/>
            <a:ext cx="2377440" cy="530352"/>
          </a:xfrm>
          <a:prstGeom prst="rect">
            <a:avLst/>
          </a:prstGeom>
          <a:noFill/>
          <a:ln/>
        </p:spPr>
        <p:txBody>
          <a:bodyPr wrap="square" lIns="0" tIns="0" rIns="0" bIns="0" rtlCol="0" anchor="t"/>
          <a:lstStyle/>
          <a:p>
            <a:pPr indent="0" marL="0">
              <a:buNone/>
            </a:pPr>
            <a:r>
              <a:rPr lang="en-US" sz="1200" dirty="0">
                <a:solidFill>
                  <a:schemeClr val="tx1"/>
                </a:solidFill>
              </a:rPr>
              <a:t>eigenvalue 5.0e-15: the rank-14 deficiency again</a:t>
            </a:r>
            <a:endParaRPr lang="en-US" sz="1200" dirty="0"/>
          </a:p>
        </p:txBody>
      </p:sp>
      <p:sp>
        <p:nvSpPr>
          <p:cNvPr id="17" name="Takeaway"/>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400" dirty="0">
                <a:solidFill>
                  <a:schemeClr val="tx1"/>
                </a:solidFill>
              </a:rPr>
              <a:t>Diagonalisation is applied to A^T A: a 15 x 15 problem instead of 558 x 15.</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11  |  FINAL APPLICATION OUTPUT</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Anish D.</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Ranking with both models</a:t>
            </a:r>
            <a:endParaRPr lang="en-US" sz="3200" dirty="0"/>
          </a:p>
        </p:txBody>
      </p:sp>
      <p:sp>
        <p:nvSpPr>
          <p:cNvPr id="6" name="Figure card"/>
          <p:cNvSpPr/>
          <p:nvPr/>
        </p:nvSpPr>
        <p:spPr>
          <a:xfrm>
            <a:off x="457200" y="1234440"/>
            <a:ext cx="5669280" cy="3429000"/>
          </a:xfrm>
          <a:prstGeom prst="roundRect">
            <a:avLst>
              <a:gd name="adj" fmla="val 2133"/>
            </a:avLst>
          </a:prstGeom>
          <a:solidFill>
            <a:schemeClr val="bg1"/>
          </a:solidFill>
          <a:ln/>
          <a:effectLst>
            <a:outerShdw sx="100000" sy="100000" kx="0" ky="0" algn="bl" rotWithShape="0" blurRad="76200" dist="25400" dir="5400000">
              <a:srgbClr val="000000">
                <a:alpha val="12000"/>
              </a:srgbClr>
            </a:outerShdw>
          </a:effectLst>
        </p:spPr>
      </p:sp>
      <p:pic>
        <p:nvPicPr>
          <p:cNvPr id="7" name="Figure 11" descr="Ranking with both models">    </p:cNvPr>
          <p:cNvPicPr>
            <a:picLocks noChangeAspect="1"/>
          </p:cNvPicPr>
          <p:nvPr/>
        </p:nvPicPr>
        <p:blipFill>
          <a:blip r:embed="rId1"/>
          <a:stretch>
            <a:fillRect/>
          </a:stretch>
        </p:blipFill>
        <p:spPr>
          <a:xfrm>
            <a:off x="619729" y="1325880"/>
            <a:ext cx="5344222" cy="3246120"/>
          </a:xfrm>
          <a:prstGeom prst="rect">
            <a:avLst/>
          </a:prstGeom>
        </p:spPr>
      </p:pic>
      <p:sp>
        <p:nvSpPr>
          <p:cNvPr id="8" name="Stat card"/>
          <p:cNvSpPr/>
          <p:nvPr/>
        </p:nvSpPr>
        <p:spPr>
          <a:xfrm>
            <a:off x="6355080" y="1234440"/>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9" name="Stat value"/>
          <p:cNvSpPr txBox="1"/>
          <p:nvPr/>
        </p:nvSpPr>
        <p:spPr>
          <a:xfrm>
            <a:off x="6492240" y="1307592"/>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0 of 15</a:t>
            </a:r>
            <a:endParaRPr lang="en-US" sz="2200" dirty="0"/>
          </a:p>
        </p:txBody>
      </p:sp>
      <p:sp>
        <p:nvSpPr>
          <p:cNvPr id="10" name="Stat label"/>
          <p:cNvSpPr txBox="1"/>
          <p:nvPr/>
        </p:nvSpPr>
        <p:spPr>
          <a:xfrm>
            <a:off x="6492240" y="1764792"/>
            <a:ext cx="2057400" cy="393192"/>
          </a:xfrm>
          <a:prstGeom prst="rect">
            <a:avLst/>
          </a:prstGeom>
          <a:noFill/>
          <a:ln/>
        </p:spPr>
        <p:txBody>
          <a:bodyPr wrap="square" lIns="0" tIns="0" rIns="0" bIns="0" rtlCol="0" anchor="t"/>
          <a:lstStyle/>
          <a:p>
            <a:pPr indent="0" marL="0">
              <a:buNone/>
            </a:pPr>
            <a:r>
              <a:rPr lang="en-US" sz="1200" dirty="0">
                <a:solidFill>
                  <a:schemeClr val="tx1"/>
                </a:solidFill>
              </a:rPr>
              <a:t>Massey coefficients beyond 2 s.e. (max |t| = 1.20)</a:t>
            </a:r>
            <a:endParaRPr lang="en-US" sz="1200" dirty="0"/>
          </a:p>
        </p:txBody>
      </p:sp>
      <p:sp>
        <p:nvSpPr>
          <p:cNvPr id="11" name="Stat card"/>
          <p:cNvSpPr/>
          <p:nvPr/>
        </p:nvSpPr>
        <p:spPr>
          <a:xfrm>
            <a:off x="6355080" y="2304288"/>
            <a:ext cx="2331720" cy="960120"/>
          </a:xfrm>
          <a:prstGeom prst="roundRect">
            <a:avLst>
              <a:gd name="adj" fmla="val 7619"/>
            </a:avLst>
          </a:prstGeom>
          <a:solidFill>
            <a:schemeClr val="bg1"/>
          </a:solidFill>
          <a:ln/>
          <a:effectLst>
            <a:outerShdw sx="100000" sy="100000" kx="0" ky="0" algn="bl" rotWithShape="0" blurRad="76200" dist="25400" dir="5400000">
              <a:srgbClr val="000000">
                <a:alpha val="12000"/>
              </a:srgbClr>
            </a:outerShdw>
          </a:effectLst>
        </p:spPr>
      </p:sp>
      <p:sp>
        <p:nvSpPr>
          <p:cNvPr id="12" name="Stat value"/>
          <p:cNvSpPr txBox="1"/>
          <p:nvPr/>
        </p:nvSpPr>
        <p:spPr>
          <a:xfrm>
            <a:off x="6492240" y="2377440"/>
            <a:ext cx="2057400" cy="45720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5 matches</a:t>
            </a:r>
            <a:endParaRPr lang="en-US" sz="2200" dirty="0"/>
          </a:p>
        </p:txBody>
      </p:sp>
      <p:sp>
        <p:nvSpPr>
          <p:cNvPr id="13" name="Stat label"/>
          <p:cNvSpPr txBox="1"/>
          <p:nvPr/>
        </p:nvSpPr>
        <p:spPr>
          <a:xfrm>
            <a:off x="6492240" y="2834640"/>
            <a:ext cx="2057400" cy="393192"/>
          </a:xfrm>
          <a:prstGeom prst="rect">
            <a:avLst/>
          </a:prstGeom>
          <a:noFill/>
          <a:ln/>
        </p:spPr>
        <p:txBody>
          <a:bodyPr wrap="square" lIns="0" tIns="0" rIns="0" bIns="0" rtlCol="0" anchor="t"/>
          <a:lstStyle/>
          <a:p>
            <a:pPr indent="0" marL="0">
              <a:buNone/>
            </a:pPr>
            <a:r>
              <a:rPr lang="en-US" sz="1200" dirty="0">
                <a:solidFill>
                  <a:schemeClr val="tx1"/>
                </a:solidFill>
              </a:rPr>
              <a:t>behind the two most extreme: Kochi, Gujarat Lions</a:t>
            </a:r>
            <a:endParaRPr lang="en-US" sz="1200" dirty="0"/>
          </a:p>
        </p:txBody>
      </p:sp>
      <p:sp>
        <p:nvSpPr>
          <p:cNvPr id="14" name="Takeaway"/>
          <p:cNvSpPr txBox="1"/>
          <p:nvPr/>
        </p:nvSpPr>
        <p:spPr>
          <a:xfrm>
            <a:off x="6355080" y="3447288"/>
            <a:ext cx="2331720" cy="1261872"/>
          </a:xfrm>
          <a:prstGeom prst="rect">
            <a:avLst/>
          </a:prstGeom>
          <a:noFill/>
          <a:ln/>
        </p:spPr>
        <p:txBody>
          <a:bodyPr wrap="square" lIns="0" tIns="0" rIns="0" bIns="0" rtlCol="0" anchor="t"/>
          <a:lstStyle/>
          <a:p>
            <a:pPr indent="0" marL="0">
              <a:buNone/>
            </a:pPr>
            <a:r>
              <a:rPr lang="en-US" sz="1400" dirty="0">
                <a:solidFill>
                  <a:schemeClr val="tx1"/>
                </a:solidFill>
              </a:rPr>
              <a:t>Fewer games, wilder value: corr(games played, |x|) = -0.66. Colley shares are all positive; its top four are Mumbai, Bangalore, Kolkata, Delhi.</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STAGE 11  |  FINAL APPLICATION OUTPUT</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Anish D.</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Checking the official table</a:t>
            </a:r>
            <a:endParaRPr lang="en-US" sz="3200" dirty="0"/>
          </a:p>
        </p:txBody>
      </p:sp>
      <p:sp>
        <p:nvSpPr>
          <p:cNvPr id="6" name="Figure card"/>
          <p:cNvSpPr/>
          <p:nvPr/>
        </p:nvSpPr>
        <p:spPr>
          <a:xfrm>
            <a:off x="457200" y="1234440"/>
            <a:ext cx="5669280" cy="3429000"/>
          </a:xfrm>
          <a:prstGeom prst="roundRect">
            <a:avLst>
              <a:gd name="adj" fmla="val 2133"/>
            </a:avLst>
          </a:prstGeom>
          <a:solidFill>
            <a:schemeClr val="bg1"/>
          </a:solidFill>
          <a:ln/>
          <a:effectLst>
            <a:outerShdw sx="100000" sy="100000" kx="0" ky="0" algn="bl" rotWithShape="0" blurRad="76200" dist="25400" dir="5400000">
              <a:srgbClr val="000000">
                <a:alpha val="12000"/>
              </a:srgbClr>
            </a:outerShdw>
          </a:effectLst>
        </p:spPr>
      </p:sp>
      <p:pic>
        <p:nvPicPr>
          <p:cNvPr id="7" name="Figure 13" descr="Checking the official table">    </p:cNvPr>
          <p:cNvPicPr>
            <a:picLocks noChangeAspect="1"/>
          </p:cNvPicPr>
          <p:nvPr/>
        </p:nvPicPr>
        <p:blipFill>
          <a:blip r:embed="rId1"/>
          <a:stretch>
            <a:fillRect/>
          </a:stretch>
        </p:blipFill>
        <p:spPr>
          <a:xfrm>
            <a:off x="1263015" y="1325880"/>
            <a:ext cx="4057650" cy="3246120"/>
          </a:xfrm>
          <a:prstGeom prst="rect">
            <a:avLst/>
          </a:prstGeom>
        </p:spPr>
      </p:pic>
      <p:sp>
        <p:nvSpPr>
          <p:cNvPr id="8" name="Stat card"/>
          <p:cNvSpPr/>
          <p:nvPr/>
        </p:nvSpPr>
        <p:spPr>
          <a:xfrm>
            <a:off x="6355080" y="1234440"/>
            <a:ext cx="2331720" cy="804672"/>
          </a:xfrm>
          <a:prstGeom prst="roundRect">
            <a:avLst>
              <a:gd name="adj" fmla="val 9091"/>
            </a:avLst>
          </a:prstGeom>
          <a:solidFill>
            <a:schemeClr val="bg1"/>
          </a:solidFill>
          <a:ln/>
          <a:effectLst>
            <a:outerShdw sx="100000" sy="100000" kx="0" ky="0" algn="bl" rotWithShape="0" blurRad="76200" dist="25400" dir="5400000">
              <a:srgbClr val="000000">
                <a:alpha val="12000"/>
              </a:srgbClr>
            </a:outerShdw>
          </a:effectLst>
        </p:spPr>
      </p:sp>
      <p:sp>
        <p:nvSpPr>
          <p:cNvPr id="9" name="Stat value"/>
          <p:cNvSpPr txBox="1"/>
          <p:nvPr/>
        </p:nvSpPr>
        <p:spPr>
          <a:xfrm>
            <a:off x="6492240" y="1289304"/>
            <a:ext cx="2057400" cy="34747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0.94</a:t>
            </a:r>
            <a:endParaRPr lang="en-US" sz="2000" dirty="0"/>
          </a:p>
        </p:txBody>
      </p:sp>
      <p:sp>
        <p:nvSpPr>
          <p:cNvPr id="10" name="Stat label"/>
          <p:cNvSpPr txBox="1"/>
          <p:nvPr/>
        </p:nvSpPr>
        <p:spPr>
          <a:xfrm>
            <a:off x="6492240" y="1655064"/>
            <a:ext cx="2057400" cy="347472"/>
          </a:xfrm>
          <a:prstGeom prst="rect">
            <a:avLst/>
          </a:prstGeom>
          <a:noFill/>
          <a:ln/>
        </p:spPr>
        <p:txBody>
          <a:bodyPr wrap="square" lIns="0" tIns="0" rIns="0" bIns="0" rtlCol="0" anchor="t"/>
          <a:lstStyle/>
          <a:p>
            <a:pPr indent="0" marL="0">
              <a:buNone/>
            </a:pPr>
            <a:r>
              <a:rPr lang="en-US" sz="1200" dirty="0">
                <a:solidFill>
                  <a:schemeClr val="tx1"/>
                </a:solidFill>
              </a:rPr>
              <a:t>Spearman: Colley vs official</a:t>
            </a:r>
            <a:endParaRPr lang="en-US" sz="1200" dirty="0"/>
          </a:p>
        </p:txBody>
      </p:sp>
      <p:sp>
        <p:nvSpPr>
          <p:cNvPr id="11" name="Stat card"/>
          <p:cNvSpPr/>
          <p:nvPr/>
        </p:nvSpPr>
        <p:spPr>
          <a:xfrm>
            <a:off x="6355080" y="2148840"/>
            <a:ext cx="2331720" cy="804672"/>
          </a:xfrm>
          <a:prstGeom prst="roundRect">
            <a:avLst>
              <a:gd name="adj" fmla="val 9091"/>
            </a:avLst>
          </a:prstGeom>
          <a:solidFill>
            <a:schemeClr val="bg1"/>
          </a:solidFill>
          <a:ln/>
          <a:effectLst>
            <a:outerShdw sx="100000" sy="100000" kx="0" ky="0" algn="bl" rotWithShape="0" blurRad="76200" dist="25400" dir="5400000">
              <a:srgbClr val="000000">
                <a:alpha val="12000"/>
              </a:srgbClr>
            </a:outerShdw>
          </a:effectLst>
        </p:spPr>
      </p:sp>
      <p:sp>
        <p:nvSpPr>
          <p:cNvPr id="12" name="Stat value"/>
          <p:cNvSpPr txBox="1"/>
          <p:nvPr/>
        </p:nvSpPr>
        <p:spPr>
          <a:xfrm>
            <a:off x="6492240" y="2203704"/>
            <a:ext cx="2057400" cy="34747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0.09</a:t>
            </a:r>
            <a:endParaRPr lang="en-US" sz="2000" dirty="0"/>
          </a:p>
        </p:txBody>
      </p:sp>
      <p:sp>
        <p:nvSpPr>
          <p:cNvPr id="13" name="Stat label"/>
          <p:cNvSpPr txBox="1"/>
          <p:nvPr/>
        </p:nvSpPr>
        <p:spPr>
          <a:xfrm>
            <a:off x="6492240" y="2569464"/>
            <a:ext cx="2057400" cy="347472"/>
          </a:xfrm>
          <a:prstGeom prst="rect">
            <a:avLst/>
          </a:prstGeom>
          <a:noFill/>
          <a:ln/>
        </p:spPr>
        <p:txBody>
          <a:bodyPr wrap="square" lIns="0" tIns="0" rIns="0" bIns="0" rtlCol="0" anchor="t"/>
          <a:lstStyle/>
          <a:p>
            <a:pPr indent="0" marL="0">
              <a:buNone/>
            </a:pPr>
            <a:r>
              <a:rPr lang="en-US" sz="1200" dirty="0">
                <a:solidFill>
                  <a:schemeClr val="tx1"/>
                </a:solidFill>
              </a:rPr>
              <a:t>Spearman: Massey vs official</a:t>
            </a:r>
            <a:endParaRPr lang="en-US" sz="1200" dirty="0"/>
          </a:p>
        </p:txBody>
      </p:sp>
      <p:sp>
        <p:nvSpPr>
          <p:cNvPr id="14" name="Stat card"/>
          <p:cNvSpPr/>
          <p:nvPr/>
        </p:nvSpPr>
        <p:spPr>
          <a:xfrm>
            <a:off x="6355080" y="3063240"/>
            <a:ext cx="2331720" cy="804672"/>
          </a:xfrm>
          <a:prstGeom prst="roundRect">
            <a:avLst>
              <a:gd name="adj" fmla="val 9091"/>
            </a:avLst>
          </a:prstGeom>
          <a:solidFill>
            <a:schemeClr val="bg1"/>
          </a:solidFill>
          <a:ln/>
          <a:effectLst>
            <a:outerShdw sx="100000" sy="100000" kx="0" ky="0" algn="bl" rotWithShape="0" blurRad="76200" dist="25400" dir="5400000">
              <a:srgbClr val="000000">
                <a:alpha val="12000"/>
              </a:srgbClr>
            </a:outerShdw>
          </a:effectLst>
        </p:spPr>
      </p:sp>
      <p:sp>
        <p:nvSpPr>
          <p:cNvPr id="15" name="Stat value"/>
          <p:cNvSpPr txBox="1"/>
          <p:nvPr/>
        </p:nvSpPr>
        <p:spPr>
          <a:xfrm>
            <a:off x="6492240" y="3118104"/>
            <a:ext cx="2057400" cy="347472"/>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0.00</a:t>
            </a:r>
            <a:endParaRPr lang="en-US" sz="2000" dirty="0"/>
          </a:p>
        </p:txBody>
      </p:sp>
      <p:sp>
        <p:nvSpPr>
          <p:cNvPr id="16" name="Stat label"/>
          <p:cNvSpPr txBox="1"/>
          <p:nvPr/>
        </p:nvSpPr>
        <p:spPr>
          <a:xfrm>
            <a:off x="6492240" y="3483864"/>
            <a:ext cx="2057400" cy="347472"/>
          </a:xfrm>
          <a:prstGeom prst="rect">
            <a:avLst/>
          </a:prstGeom>
          <a:noFill/>
          <a:ln/>
        </p:spPr>
        <p:txBody>
          <a:bodyPr wrap="square" lIns="0" tIns="0" rIns="0" bIns="0" rtlCol="0" anchor="t"/>
          <a:lstStyle/>
          <a:p>
            <a:pPr indent="0" marL="0">
              <a:buNone/>
            </a:pPr>
            <a:r>
              <a:rPr lang="en-US" sz="1200" dirty="0">
                <a:solidFill>
                  <a:schemeClr val="tx1"/>
                </a:solidFill>
              </a:rPr>
              <a:t>Spearman: Massey vs Colley</a:t>
            </a:r>
            <a:endParaRPr lang="en-US" sz="1200" dirty="0"/>
          </a:p>
        </p:txBody>
      </p:sp>
      <p:sp>
        <p:nvSpPr>
          <p:cNvPr id="17" name="Takeaway"/>
          <p:cNvSpPr txBox="1"/>
          <p:nvPr/>
        </p:nvSpPr>
        <p:spPr>
          <a:xfrm>
            <a:off x="6355080" y="4050792"/>
            <a:ext cx="2331720" cy="658368"/>
          </a:xfrm>
          <a:prstGeom prst="rect">
            <a:avLst/>
          </a:prstGeom>
          <a:noFill/>
          <a:ln/>
        </p:spPr>
        <p:txBody>
          <a:bodyPr wrap="square" lIns="0" tIns="0" rIns="0" bIns="0" rtlCol="0" anchor="t"/>
          <a:lstStyle/>
          <a:p>
            <a:pPr indent="0" marL="0">
              <a:buNone/>
            </a:pPr>
            <a:r>
              <a:rPr lang="en-US" sz="1400" dirty="0">
                <a:solidFill>
                  <a:schemeClr val="tx1"/>
                </a:solidFill>
              </a:rPr>
              <a:t>Joined by team name, never by row position.</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5943600" cy="256032"/>
          </a:xfrm>
          <a:prstGeom prst="rect">
            <a:avLst/>
          </a:prstGeom>
          <a:noFill/>
          <a:ln/>
        </p:spPr>
        <p:txBody>
          <a:bodyPr wrap="square" lIns="0" tIns="0" rIns="0" bIns="0" rtlCol="0"/>
          <a:lstStyle/>
          <a:p>
            <a:pPr indent="0" marL="0">
              <a:buNone/>
            </a:pPr>
            <a:r>
              <a:rPr lang="en-US" sz="1100" b="1" spc="200" kern="0" dirty="0">
                <a:solidFill>
                  <a:schemeClr val="accent1"/>
                </a:solidFill>
              </a:rPr>
              <a:t>SUMMARY</a:t>
            </a:r>
            <a:endParaRPr lang="en-US" sz="1100" dirty="0"/>
          </a:p>
        </p:txBody>
      </p:sp>
      <p:sp>
        <p:nvSpPr>
          <p:cNvPr id="3" name="Text 1"/>
          <p:cNvSpPr/>
          <p:nvPr>
            <p:ph idx="102" type="body" hasCustomPrompt="1"/>
          </p:nvPr>
        </p:nvSpPr>
        <p:spPr>
          <a:xfrm>
            <a:off x="6400800" y="201168"/>
            <a:ext cx="2286000" cy="256032"/>
          </a:xfrm>
          <a:prstGeom prst="rect">
            <a:avLst/>
          </a:prstGeom>
          <a:noFill/>
          <a:ln/>
        </p:spPr>
        <p:txBody>
          <a:bodyPr wrap="square" lIns="0" tIns="0" rIns="0" bIns="0" rtlCol="0"/>
          <a:lstStyle/>
          <a:p>
            <a:pPr algn="r" indent="0" marL="0">
              <a:buNone/>
            </a:pPr>
            <a:r>
              <a:rPr lang="en-US" sz="1100" dirty="0">
                <a:solidFill>
                  <a:schemeClr val="accent5"/>
                </a:solidFill>
              </a:rPr>
              <a:t>Anish D.</a:t>
            </a:r>
            <a:endParaRPr lang="en-US" sz="1100" dirty="0"/>
          </a:p>
        </p:txBody>
      </p:sp>
      <p:sp>
        <p:nvSpPr>
          <p:cNvPr id="4" name="Text 1"/>
          <p:cNvSpPr/>
          <p:nvPr>
            <p:ph idx="103" type="title" hasCustomPrompt="1"/>
          </p:nvPr>
        </p:nvSpPr>
        <p:spPr>
          <a:xfrm>
            <a:off x="457200" y="45720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Conclusions and limits</a:t>
            </a:r>
            <a:endParaRPr lang="en-US" sz="3200" dirty="0"/>
          </a:p>
        </p:txBody>
      </p:sp>
      <p:sp>
        <p:nvSpPr>
          <p:cNvPr id="6" name="Summary card"/>
          <p:cNvSpPr/>
          <p:nvPr/>
        </p:nvSpPr>
        <p:spPr>
          <a:xfrm>
            <a:off x="457200" y="1280160"/>
            <a:ext cx="4023360" cy="2651760"/>
          </a:xfrm>
          <a:prstGeom prst="roundRect">
            <a:avLst>
              <a:gd name="adj" fmla="val 2759"/>
            </a:avLst>
          </a:prstGeom>
          <a:solidFill>
            <a:schemeClr val="bg1"/>
          </a:solidFill>
          <a:ln/>
          <a:effectLst>
            <a:outerShdw sx="100000" sy="100000" kx="0" ky="0" algn="bl" rotWithShape="0" blurRad="76200" dist="25400" dir="5400000">
              <a:srgbClr val="000000">
                <a:alpha val="12000"/>
              </a:srgbClr>
            </a:outerShdw>
          </a:effectLst>
        </p:spPr>
      </p:sp>
      <p:sp>
        <p:nvSpPr>
          <p:cNvPr id="7" name="Icon circle"/>
          <p:cNvSpPr/>
          <p:nvPr/>
        </p:nvSpPr>
        <p:spPr>
          <a:xfrm>
            <a:off x="685800" y="1481328"/>
            <a:ext cx="457200" cy="457200"/>
          </a:xfrm>
          <a:prstGeom prst="ellipse">
            <a:avLst/>
          </a:prstGeom>
          <a:solidFill>
            <a:schemeClr val="accent1"/>
          </a:solidFill>
          <a:ln/>
        </p:spPr>
      </p:sp>
      <p:sp>
        <p:nvSpPr>
          <p:cNvPr id="8" name="Text 5"/>
          <p:cNvSpPr txBox="1"/>
          <p:nvPr/>
        </p:nvSpPr>
        <p:spPr>
          <a:xfrm>
            <a:off x="685800" y="14813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OK</a:t>
            </a:r>
            <a:endParaRPr lang="en-US" sz="1400" dirty="0"/>
          </a:p>
        </p:txBody>
      </p:sp>
      <p:sp>
        <p:nvSpPr>
          <p:cNvPr id="9" name="Text 6"/>
          <p:cNvSpPr txBox="1"/>
          <p:nvPr/>
        </p:nvSpPr>
        <p:spPr>
          <a:xfrm>
            <a:off x="1280160" y="1481328"/>
            <a:ext cx="301752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What the mathematics showed</a:t>
            </a:r>
            <a:endParaRPr lang="en-US" sz="1800" dirty="0"/>
          </a:p>
        </p:txBody>
      </p:sp>
      <p:sp>
        <p:nvSpPr>
          <p:cNvPr id="10" name="Summary points"/>
          <p:cNvSpPr txBox="1"/>
          <p:nvPr/>
        </p:nvSpPr>
        <p:spPr>
          <a:xfrm>
            <a:off x="731520" y="2148840"/>
            <a:ext cx="352044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Rank 14, nullity 1: strengths exist only up to a constant</a:t>
            </a:r>
            <a:endParaRPr lang="en-US" sz="1400" dirty="0"/>
          </a:p>
          <a:p>
            <a:pPr marL="342900" indent="-342900">
              <a:spcAft>
                <a:spcPts val="1000"/>
              </a:spcAft>
              <a:buSzPct val="100000"/>
              <a:buChar char="•"/>
            </a:pPr>
            <a:r>
              <a:rPr lang="en-US" sz="1400" dirty="0">
                <a:solidFill>
                  <a:schemeClr val="tx1"/>
                </a:solidFill>
              </a:rPr>
              <a:t>Projection: r is perpendicular to Col(A), checked to 1e-13</a:t>
            </a:r>
            <a:endParaRPr lang="en-US" sz="1400" dirty="0"/>
          </a:p>
          <a:p>
            <a:pPr marL="342900" indent="-342900">
              <a:spcAft>
                <a:spcPts val="1000"/>
              </a:spcAft>
              <a:buSzPct val="100000"/>
              <a:buChar char="•"/>
            </a:pPr>
            <a:r>
              <a:rPr lang="en-US" sz="1400" dirty="0">
                <a:solidFill>
                  <a:schemeClr val="tx1"/>
                </a:solidFill>
              </a:rPr>
              <a:t>Colley eigenvector tracks the official table: 0.94</a:t>
            </a:r>
            <a:endParaRPr lang="en-US" sz="1400" dirty="0"/>
          </a:p>
        </p:txBody>
      </p:sp>
      <p:sp>
        <p:nvSpPr>
          <p:cNvPr id="11" name="Summary card"/>
          <p:cNvSpPr/>
          <p:nvPr/>
        </p:nvSpPr>
        <p:spPr>
          <a:xfrm>
            <a:off x="4663440" y="1280160"/>
            <a:ext cx="4023360" cy="2651760"/>
          </a:xfrm>
          <a:prstGeom prst="roundRect">
            <a:avLst>
              <a:gd name="adj" fmla="val 2759"/>
            </a:avLst>
          </a:prstGeom>
          <a:solidFill>
            <a:schemeClr val="bg1"/>
          </a:solidFill>
          <a:ln/>
          <a:effectLst>
            <a:outerShdw sx="100000" sy="100000" kx="0" ky="0" algn="bl" rotWithShape="0" blurRad="76200" dist="25400" dir="5400000">
              <a:srgbClr val="000000">
                <a:alpha val="12000"/>
              </a:srgbClr>
            </a:outerShdw>
          </a:effectLst>
        </p:spPr>
      </p:sp>
      <p:sp>
        <p:nvSpPr>
          <p:cNvPr id="12" name="Icon circle"/>
          <p:cNvSpPr/>
          <p:nvPr/>
        </p:nvSpPr>
        <p:spPr>
          <a:xfrm>
            <a:off x="4892040" y="1481328"/>
            <a:ext cx="457200" cy="457200"/>
          </a:xfrm>
          <a:prstGeom prst="ellipse">
            <a:avLst/>
          </a:prstGeom>
          <a:solidFill>
            <a:schemeClr val="accent2"/>
          </a:solidFill>
          <a:ln/>
        </p:spPr>
      </p:sp>
      <p:sp>
        <p:nvSpPr>
          <p:cNvPr id="13" name="Text 10"/>
          <p:cNvSpPr txBox="1"/>
          <p:nvPr/>
        </p:nvSpPr>
        <p:spPr>
          <a:xfrm>
            <a:off x="4892040" y="14813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4" name="Text 11"/>
          <p:cNvSpPr txBox="1"/>
          <p:nvPr/>
        </p:nvSpPr>
        <p:spPr>
          <a:xfrm>
            <a:off x="5486400" y="1481328"/>
            <a:ext cx="3017520" cy="4572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Known limitation from our audit</a:t>
            </a:r>
            <a:endParaRPr lang="en-US" sz="1800" dirty="0"/>
          </a:p>
        </p:txBody>
      </p:sp>
      <p:sp>
        <p:nvSpPr>
          <p:cNvPr id="15" name="Summary points"/>
          <p:cNvSpPr txBox="1"/>
          <p:nvPr/>
        </p:nvSpPr>
        <p:spPr>
          <a:xfrm>
            <a:off x="4937760" y="2148840"/>
            <a:ext cx="352044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Design-matrix sign is inconsistent in 123 of 558 rows</a:t>
            </a:r>
            <a:endParaRPr lang="en-US" sz="1400" dirty="0"/>
          </a:p>
          <a:p>
            <a:pPr marL="342900" indent="-342900">
              <a:spcAft>
                <a:spcPts val="1000"/>
              </a:spcAft>
              <a:buSzPct val="100000"/>
              <a:buChar char="•"/>
            </a:pPr>
            <a:r>
              <a:rPr lang="en-US" sz="1400" dirty="0">
                <a:solidFill>
                  <a:schemeClr val="tx1"/>
                </a:solidFill>
              </a:rPr>
              <a:t>With consistent signs: Massey vs official 0.09 to 0.60</a:t>
            </a:r>
            <a:endParaRPr lang="en-US" sz="1400" dirty="0"/>
          </a:p>
          <a:p>
            <a:pPr marL="342900" indent="-342900">
              <a:spcAft>
                <a:spcPts val="1000"/>
              </a:spcAft>
              <a:buSzPct val="100000"/>
              <a:buChar char="•"/>
            </a:pPr>
            <a:r>
              <a:rPr lang="en-US" sz="1400" dirty="0">
                <a:solidFill>
                  <a:schemeClr val="tx1"/>
                </a:solidFill>
              </a:rPr>
              <a:t>Massey numbers are provisional; rank and null space stand</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731520"/>
            <a:ext cx="804672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1645920"/>
            <a:ext cx="8046720" cy="457200"/>
          </a:xfrm>
          <a:prstGeom prst="rect">
            <a:avLst/>
          </a:prstGeom>
          <a:noFill/>
          <a:ln/>
        </p:spPr>
        <p:txBody>
          <a:bodyPr wrap="square" lIns="0" tIns="0" rIns="0" bIns="0" rtlCol="0" anchor="ctr"/>
          <a:lstStyle/>
          <a:p>
            <a:pPr indent="0" marL="0">
              <a:buNone/>
            </a:pPr>
            <a:r>
              <a:rPr lang="en-US" sz="2400" b="1" dirty="0">
                <a:solidFill>
                  <a:schemeClr val="accent2"/>
                </a:solidFill>
              </a:rPr>
              <a:t>Questions?</a:t>
            </a:r>
            <a:endParaRPr lang="en-US" sz="2400" dirty="0"/>
          </a:p>
        </p:txBody>
      </p:sp>
      <p:sp>
        <p:nvSpPr>
          <p:cNvPr id="4" name="Recap chip"/>
          <p:cNvSpPr/>
          <p:nvPr/>
        </p:nvSpPr>
        <p:spPr>
          <a:xfrm>
            <a:off x="548640" y="2651760"/>
            <a:ext cx="1920240" cy="640080"/>
          </a:xfrm>
          <a:prstGeom prst="roundRect">
            <a:avLst>
              <a:gd name="adj" fmla="val 11429"/>
            </a:avLst>
          </a:prstGeom>
          <a:solidFill>
            <a:schemeClr val="accent1"/>
          </a:solidFill>
          <a:ln/>
        </p:spPr>
      </p:sp>
      <p:sp>
        <p:nvSpPr>
          <p:cNvPr id="5" name="Text 3"/>
          <p:cNvSpPr txBox="1"/>
          <p:nvPr/>
        </p:nvSpPr>
        <p:spPr>
          <a:xfrm>
            <a:off x="640080" y="265176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Data to matrix</a:t>
            </a:r>
            <a:endParaRPr lang="en-US" sz="1400" dirty="0"/>
          </a:p>
        </p:txBody>
      </p:sp>
      <p:sp>
        <p:nvSpPr>
          <p:cNvPr id="6" name="Recap chip"/>
          <p:cNvSpPr/>
          <p:nvPr/>
        </p:nvSpPr>
        <p:spPr>
          <a:xfrm>
            <a:off x="2606040" y="2651760"/>
            <a:ext cx="1920240" cy="640080"/>
          </a:xfrm>
          <a:prstGeom prst="roundRect">
            <a:avLst>
              <a:gd name="adj" fmla="val 11429"/>
            </a:avLst>
          </a:prstGeom>
          <a:solidFill>
            <a:schemeClr val="accent1"/>
          </a:solidFill>
          <a:ln/>
        </p:spPr>
      </p:sp>
      <p:sp>
        <p:nvSpPr>
          <p:cNvPr id="7" name="Text 5"/>
          <p:cNvSpPr txBox="1"/>
          <p:nvPr/>
        </p:nvSpPr>
        <p:spPr>
          <a:xfrm>
            <a:off x="2697480" y="265176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Rank 14, null space</a:t>
            </a:r>
            <a:endParaRPr lang="en-US" sz="1400" dirty="0"/>
          </a:p>
        </p:txBody>
      </p:sp>
      <p:sp>
        <p:nvSpPr>
          <p:cNvPr id="8" name="Recap chip"/>
          <p:cNvSpPr/>
          <p:nvPr/>
        </p:nvSpPr>
        <p:spPr>
          <a:xfrm>
            <a:off x="4663440" y="2651760"/>
            <a:ext cx="1920240" cy="640080"/>
          </a:xfrm>
          <a:prstGeom prst="roundRect">
            <a:avLst>
              <a:gd name="adj" fmla="val 11429"/>
            </a:avLst>
          </a:prstGeom>
          <a:solidFill>
            <a:schemeClr val="accent1"/>
          </a:solidFill>
          <a:ln/>
        </p:spPr>
      </p:sp>
      <p:sp>
        <p:nvSpPr>
          <p:cNvPr id="9" name="Text 7"/>
          <p:cNvSpPr txBox="1"/>
          <p:nvPr/>
        </p:nvSpPr>
        <p:spPr>
          <a:xfrm>
            <a:off x="4754880" y="265176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Projection</a:t>
            </a:r>
            <a:endParaRPr lang="en-US" sz="1400" dirty="0"/>
          </a:p>
        </p:txBody>
      </p:sp>
      <p:sp>
        <p:nvSpPr>
          <p:cNvPr id="10" name="Recap chip"/>
          <p:cNvSpPr/>
          <p:nvPr/>
        </p:nvSpPr>
        <p:spPr>
          <a:xfrm>
            <a:off x="6720840" y="2651760"/>
            <a:ext cx="1920240" cy="640080"/>
          </a:xfrm>
          <a:prstGeom prst="roundRect">
            <a:avLst>
              <a:gd name="adj" fmla="val 11429"/>
            </a:avLst>
          </a:prstGeom>
          <a:solidFill>
            <a:schemeClr val="accent1"/>
          </a:solidFill>
          <a:ln/>
        </p:spPr>
      </p:sp>
      <p:sp>
        <p:nvSpPr>
          <p:cNvPr id="11" name="Text 9"/>
          <p:cNvSpPr txBox="1"/>
          <p:nvPr/>
        </p:nvSpPr>
        <p:spPr>
          <a:xfrm>
            <a:off x="6812280" y="2651760"/>
            <a:ext cx="1737360" cy="640080"/>
          </a:xfrm>
          <a:prstGeom prst="rect">
            <a:avLst/>
          </a:prstGeom>
          <a:noFill/>
          <a:ln/>
        </p:spPr>
        <p:txBody>
          <a:bodyPr wrap="square" lIns="0" tIns="0" rIns="0" bIns="0" rtlCol="0" anchor="ctr"/>
          <a:lstStyle/>
          <a:p>
            <a:pPr algn="ctr" indent="0" marL="0">
              <a:buNone/>
            </a:pPr>
            <a:r>
              <a:rPr lang="en-US" sz="1400" b="1" dirty="0">
                <a:solidFill>
                  <a:schemeClr val="bg1"/>
                </a:solidFill>
              </a:rPr>
              <a:t>Leading eigenvector</a:t>
            </a:r>
            <a:endParaRPr lang="en-US" sz="1400" dirty="0"/>
          </a:p>
        </p:txBody>
      </p:sp>
      <p:sp>
        <p:nvSpPr>
          <p:cNvPr id="12" name="Text 10"/>
          <p:cNvSpPr txBox="1"/>
          <p:nvPr/>
        </p:nvSpPr>
        <p:spPr>
          <a:xfrm>
            <a:off x="548640" y="3931920"/>
            <a:ext cx="8046720" cy="640080"/>
          </a:xfrm>
          <a:prstGeom prst="rect">
            <a:avLst/>
          </a:prstGeom>
          <a:noFill/>
          <a:ln/>
        </p:spPr>
        <p:txBody>
          <a:bodyPr wrap="square" lIns="0" tIns="0" rIns="0" bIns="0" rtlCol="0" anchor="t"/>
          <a:lstStyle/>
          <a:p>
            <a:pPr indent="0" marL="0">
              <a:buNone/>
            </a:pPr>
            <a:r>
              <a:rPr lang="en-US" sz="1400" dirty="0">
                <a:solidFill>
                  <a:schemeClr val="bg2"/>
                </a:solidFill>
              </a:rPr>
              <a:t>Anubhav Rai (PES1UG25CS078)   |   Arnab Sen (PES1UG25CS093)</a:t>
            </a:r>
            <a:endParaRPr lang="en-US" sz="1400" dirty="0"/>
          </a:p>
          <a:p>
            <a:pPr indent="0" marL="0">
              <a:buNone/>
            </a:pPr>
            <a:r>
              <a:rPr lang="en-US" sz="1400" dirty="0">
                <a:solidFill>
                  <a:schemeClr val="bg2"/>
                </a:solidFill>
              </a:rPr>
              <a:t>Anish Alladi (PES1UG25CS070)   |   Anish De (PES1UG25CS071)</a:t>
            </a:r>
            <a:endParaRPr lang="en-US" sz="1400" dirty="0"/>
          </a:p>
        </p:txBody>
      </p:sp>
    </p:spTree>
  </p:cSld>
  <p:clrMapOvr>
    <a:masterClrMapping/>
  </p:clrMapOvr>
</p:sld>
</file>

<file path=ppt/theme/theme1.xml><?xml version="1.0" encoding="utf-8"?>
<a:theme xmlns:a="http://schemas.openxmlformats.org/drawingml/2006/main" name="IPL Pitch">
  <a:themeElements>
    <a:clrScheme name="IPL Pitch">
      <a:dk1>
        <a:srgbClr val="14201D"/>
      </a:dk1>
      <a:lt1>
        <a:srgbClr val="FFFFFF"/>
      </a:lt1>
      <a:dk2>
        <a:srgbClr val="0E3B33"/>
      </a:dk2>
      <a:lt2>
        <a:srgbClr val="F4F7F6"/>
      </a:lt2>
      <a:accent1>
        <a:srgbClr val="0E7C6B"/>
      </a:accent1>
      <a:accent2>
        <a:srgbClr val="F2A33A"/>
      </a:accent2>
      <a:accent3>
        <a:srgbClr val="C0392B"/>
      </a:accent3>
      <a:accent4>
        <a:srgbClr val="3A5BA0"/>
      </a:accent4>
      <a:accent5>
        <a:srgbClr val="5E6E69"/>
      </a:accent5>
      <a:accent6>
        <a:srgbClr val="2E9E8A"/>
      </a:accent6>
      <a:hlink>
        <a:srgbClr val="0E7C6B"/>
      </a:hlink>
      <a:folHlink>
        <a:srgbClr val="5E6E69"/>
      </a:folHlink>
    </a:clrScheme>
    <a:fontScheme name="IPL Pi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IPL Power Ranking - a linear algebra walk-through</dc:title>
  <dc:subject>PptxGenJS Presentation</dc:subject>
  <dc:creator>Anubhav Rai, Arnab Sen, Anish Alladi</dc:creator>
  <cp:lastModifiedBy>Anubhav Rai, Arnab Sen, Anish Alladi</cp:lastModifiedBy>
  <cp:revision>1</cp:revision>
  <dcterms:created xsi:type="dcterms:W3CDTF">2026-10-08T03:48:42Z</dcterms:created>
  <dcterms:modified xsi:type="dcterms:W3CDTF">2026-10-08T03:48:42Z</dcterms:modified>
</cp:coreProperties>
</file>